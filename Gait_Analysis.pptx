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2377440"/>
          </a:xfrm>
          <a:prstGeom prst="rect">
            <a:avLst/>
          </a:prstGeom>
          <a:solidFill>
            <a:srgbClr val="14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9728" cy="347472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步 态 分 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7A2B8"/>
                </a:solidFill>
                <a:latin typeface="Microsoft YaHei"/>
              </a:defRPr>
            </a:pPr>
            <a:r>
              <a:t>Gait Analysis — 临床评估与康复指导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康复医学科  ·  步态分析专题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46304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步态分析概述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148840"/>
            <a:ext cx="457200" cy="45720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步态周期与分期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83464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正常步态参数</a:t>
            </a:r>
          </a:p>
        </p:txBody>
      </p:sp>
      <p:sp>
        <p:nvSpPr>
          <p:cNvPr id="12" name="Oval 11"/>
          <p:cNvSpPr/>
          <p:nvPr/>
        </p:nvSpPr>
        <p:spPr>
          <a:xfrm>
            <a:off x="1097280" y="3520440"/>
            <a:ext cx="457200" cy="45720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步态分析方法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420624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519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常见异常步态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892040"/>
            <a:ext cx="457200" cy="457200"/>
          </a:xfrm>
          <a:prstGeom prst="ellipse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9377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步态分析的临床应用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5577840"/>
            <a:ext cx="457200" cy="45720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62355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50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一、步态分析概述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▎什么是步态？
</a:t>
            </a:r>
            <a:r>
              <a:rPr sz="2000">
                <a:solidFill>
                  <a:srgbClr val="2C3E50"/>
                </a:solidFill>
                <a:latin typeface="Microsoft YaHei"/>
              </a:rPr>
              <a:t>步态（Gait）是人类步行的行为特征，是人体在行走过程中通过中枢神经系统调控、肌肉骨骼系统协调运动所表现出的周期性运动模式。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▎什么是步态分析？
</a:t>
            </a:r>
            <a:r>
              <a:rPr sz="2000">
                <a:solidFill>
                  <a:srgbClr val="2C3E50"/>
                </a:solidFill>
                <a:latin typeface="Microsoft YaHei"/>
              </a:rPr>
              <a:t>步态分析（Gait Analysis）是利用生物力学和运动学原理，结合观测或仪器手段，对人体步行方式进行定量或定性分析的一门技术。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▎步态分析的目的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评估步行功能状态，识别异常步态模式
• 辅助临床诊断（神经系统、骨骼肌肉系统疾病）
• 制定康复治疗方案，评估治疗与训练效果
• 指导矫形器、假肢及辅助器具的设计与适配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二、步态周期与分期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▎步态周期（Gait Cycle）
</a:t>
            </a:r>
            <a:r>
              <a:rPr sz="2000">
                <a:solidFill>
                  <a:srgbClr val="2C3E50"/>
                </a:solidFill>
                <a:latin typeface="Microsoft YaHei"/>
              </a:rPr>
              <a:t>指从一侧足跟着地到该侧足跟再次着地所经历的时间过程。一个完整的步态周期分为 支撑相 和 摆动相 两个阶段。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▎支撑相（Stance Phase）— 约占周期的 60%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足跟着地（Initial Contact）
• 足底着地（Loading Response）
• 支撑中期（Mid Stance）
• 支撑末期（Terminal Stance）
• 摆动前期（Pre-swing）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▎摆动相（Swing Phase）— 约占周期的 40%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摆动初期（Initial Swing）
• 摆动中期（Mid Swing）
• 摆动末期（Terminal Swing）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步态周期各阶段详解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754880"/>
          </a:xfrm>
          <a:prstGeom prst="roundRect">
            <a:avLst/>
          </a:prstGeom>
          <a:solidFill>
            <a:srgbClr val="E8F4F8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🟦 支撑相（Stance Phase）60%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① 首次着地（Initial Contact）—— 足跟接触地面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② 承重反应（Loading Response）—— 体重逐渐转移至该下肢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③ 支撑中期（Mid Stance）—— 单腿支撑，重心位于足上方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④ 支撑末期（Terminal Stance）—— 足跟离地，重心前移</a:t>
            </a:r>
          </a:p>
          <a:p>
            <a:pPr>
              <a:spcAft>
                <a:spcPts val="10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⑤ 摆动前期（Pre-swing）—— 足趾离地前准备推进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35400"/>
                </a:solidFill>
                <a:latin typeface="Microsoft YaHei"/>
              </a:defRPr>
            </a:pPr>
            <a:r>
              <a:t>🟧 摆动相（Swing Phase）40%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① 摆动初期（Initial Swing）—— 足离地，下肢加速前摆</a:t>
            </a:r>
          </a:p>
          <a:p>
            <a:pPr>
              <a:spcAft>
                <a:spcPts val="14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② 摆动中期（Mid Swing）—— 下肢在身体下方摆动通过</a:t>
            </a:r>
          </a:p>
          <a:p>
            <a:pPr>
              <a:spcAft>
                <a:spcPts val="14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③ 摆动末期（Terminal Swing）—— 下肢减速，准备足跟着地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💡 双支撑相（Double Support）：在一个步态周期中有两个短暂的双足同时支撑的阶段（占周期约10%~20%）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三、正常步态参数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▎时空参数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步长（Step Length）：一侧足跟着地至对侧足跟着地间的距离，约 50~80 cm
• 步幅（Stride Length）：同一侧足跟两次着地间的距离，约为步长的 2 倍
• 步宽（Step Width）：两足跟中心之间的横向距离，约 5~10 cm
• 步速（Gait Speed）：正常成人约 1.2~1.5 m/s
• 步频（Cadence）：每分钟步数，约 100~120 步/分钟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▎运动学参数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关节角度变化：髋、膝、踝关节在矢状面的屈伸角度
• 骨盆运动：骨盆在三维空间中的旋转与倾斜
• 重心轨迹：身体重心呈正弦波形上下与左右移动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▎动力学参数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地面反作用力（GRF）：足与地面接触时的反作用力
• 关节力矩：各关节在步行中的力矩变化
• 肌肉活动：通过肌电图（EMG）记录步行中各肌群的激活时序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四、步态分析方法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▎目测分析法（Qualitative Analysis）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是临床最常用的步态评估方法
• 通过肉眼观察患者行走过程，从正面、侧面、背面多角度评估
• 观察内容：躯干姿势、骨盆运动、各关节活动范围、对称性、协调性
• 常用量表：Rancho Los Amigos 观察性步态分析（OGA）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Microsoft YaHei"/>
              </a:defRPr>
            </a:pPr>
            <a:r>
              <a:t>▎优点：</a:t>
            </a:r>
            <a:br/>
            <a:r>
              <a:t> 简便易行，无需特殊设备，适用于快速临床筛查</a:t>
            </a:r>
          </a:p>
          <a:p>
            <a:pPr>
              <a:spcAft>
                <a:spcPts val="1000"/>
              </a:spcAft>
              <a:defRPr sz="2000">
                <a:solidFill>
                  <a:srgbClr val="2C3E50"/>
                </a:solidFill>
                <a:latin typeface="Microsoft YaHei"/>
              </a:defRPr>
            </a:pPr>
            <a:r>
              <a:t>▎局限性：</a:t>
            </a:r>
            <a:br/>
            <a:r>
              <a:t> 主观性强，难以量化细微变化，对快速运动观察困难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7F8C8D"/>
                </a:solidFill>
                <a:latin typeface="Microsoft YaHei"/>
              </a:defRPr>
            </a:pPr>
            <a:r>
              <a:t>临床常用标准化目测分析项目：上肢/躯干/骨盆/髋/膝/踝/足 七大观察维度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四、步态分析方法 — 仪器分析法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▎三维运动捕捉系统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使用红外摄像头与反光标记点，精确记录关节运动轨迹
• 可获得关节角度、速度、加速度等运动学参数
• 代表系统：Vicon、Qualisys、OptiTrack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▎测力台 / 三维测力系统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嵌入地面的力传感器平台，测量地面反作用力（GRF）
• 获取垂直力、前后剪力、内外侧剪力数据
• 分析步态动力学特征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▎表面肌电图（sEMG）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记录步行中肌肉的电活动，分析肌肉激活时序与强度
• 常用肌肉：胫前肌、腓肠肌、股四头肌、腘绳肌等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▎可穿戴传感器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加速度计、陀螺仪、惯性测量单元（IMU）
• 可在自然环境中进行长时间步态监测
• 便携、低成本，适合社区康复与远程监测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▎智能压力垫 / 步态毯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分布压力传感器阵列，分析足底压力分布
• 评估足部受力模式、平衡能力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五、常见异常步态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56032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偏瘫步态（划圈步态）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3898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〔脑血管意外后遗症〕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8988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下肢伸肌痉挛模式：足下垂、足内翻、膝过伸，摆动相下肢划圈代偿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4832"/>
            <a:ext cx="2560320" cy="50292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剪刀步态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031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〔脑瘫、脊髓损伤〕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1031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髋内收肌痉挛导致双膝摩擦或交叉，呈剪刀样行走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98064"/>
            <a:ext cx="256032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跨阈步态（足下垂步态）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8163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〔腓总神经损伤〕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816352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足下垂，摆动相髋腰肌过度屈髋代偿，避免足尖拖地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11296"/>
            <a:ext cx="2560320" cy="50292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鸭步步态（Trendelenburg征）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5295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〔臀中肌无力〕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529584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支撑相骨盆向对侧倾斜，躯干向患侧倾斜代偿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24528"/>
            <a:ext cx="256032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帕金森步态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24281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〔帕金森病〕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242816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小碎步、慌张步态、起步困难、上肢摆动减少、躯干前倾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2560320" cy="50292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小脑共济失调步态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95604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〔小脑病变〕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956048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步基增宽、步态不稳、方向偏斜、躯干摇晃如醉酒状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650992"/>
            <a:ext cx="2560320" cy="502920"/>
          </a:xfrm>
          <a:prstGeom prst="round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短腿步态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66927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3C6E"/>
                </a:solidFill>
                <a:latin typeface="Microsoft YaHei"/>
              </a:defRPr>
            </a:pPr>
            <a:r>
              <a:t>〔下肢不等长〕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669279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Microsoft YaHei"/>
              </a:defRPr>
            </a:pPr>
            <a:r>
              <a:t>患侧支撑相骨盆下降，健侧出现代偿性屈膝或足尖行走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五、异常步态补充 — 其他常见类型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▎疼痛性步态（Antalgic Gait）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患者为减轻患侧疼痛，缩短患侧支撑相时间，健侧步幅增大
• 常见于骨关节炎、足底筋膜炎、踝关节扭伤等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▎肌无力步态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臀大肌步态：支撑相躯干后仰，呈"挺胸凸腹"姿势
• 股四头肌步态：支撑相膝过伸，用手按压大腿辅助稳定膝关节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▎脊柱相关步态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脊柱侧弯：躯干偏斜，双肩不等高，骨盆倾斜
• 腰椎管狭窄：间歇性跛行，弯腰行走可缓解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▎老年步态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步速减慢、步长缩短、步基增宽、上肢摆动减少
• 多因素影响：肌力下降、平衡功能减退、感觉减退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2E86C1"/>
                </a:solidFill>
                <a:latin typeface="Microsoft YaHei"/>
              </a:rPr>
              <a:t>▎截肢步态
</a:t>
            </a:r>
            <a:r>
              <a:rPr sz="2000">
                <a:solidFill>
                  <a:srgbClr val="2C3E50"/>
                </a:solidFill>
                <a:latin typeface="Microsoft YaHei"/>
              </a:rPr>
              <a:t>• 假肢使用者特有的代偿模式：骨盆上提、躯干侧移、腰椎代偿
• 与假肢类型、对线及适配程度密切相关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3C6E"/>
                </a:solidFill>
                <a:latin typeface="Microsoft YaHei"/>
              </a:defRPr>
            </a:pPr>
            <a:r>
              <a:t>六、步态分析的临床应用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36576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🧠 神经康复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脑卒中后步态训练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帕金森病 gait 评估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脊髓损伤步行功能评定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脑瘫患儿步态矫正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🦴 骨科康复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人工髋/膝关节置换术后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截肢后假肢适配评估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足踝外科手术前后对比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脊柱侧弯步行分析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30352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🏃 运动医学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59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运动员步态生物力学分析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跑步损伤风险评估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运动鞋/矫形鞋垫设计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运动技术动作优化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31920"/>
            <a:ext cx="53035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303520" cy="4572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🧓 老年医学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480559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跌倒风险评估与预防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肌少症步态特征识别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认知功能与步速关联研究</a:t>
            </a:r>
          </a:p>
          <a:p>
            <a:pPr>
              <a:spcAft>
                <a:spcPts val="400"/>
              </a:spcAft>
              <a:defRPr sz="1600">
                <a:solidFill>
                  <a:srgbClr val="2C3E50"/>
                </a:solidFill>
                <a:latin typeface="Microsoft YaHei"/>
              </a:defRPr>
            </a:pPr>
            <a:r>
              <a:t>• 社区老年人步行功能筛查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 结 与 展 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▎核心要点回顾</a:t>
            </a:r>
          </a:p>
          <a:p>
            <a:pPr>
              <a:spcAft>
                <a:spcPts val="400"/>
              </a:spcAft>
              <a:defRPr sz="1400">
                <a:solidFill>
                  <a:srgbClr val="7F8C8D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✓ 步态分析是康复医学与运动医学中评估步行功能的重要手段</a:t>
            </a:r>
          </a:p>
          <a:p>
            <a:pPr>
              <a:spcAft>
                <a:spcPts val="4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✓ 正常步态需要中枢神经系统、肌肉骨骼系统的协调配合</a:t>
            </a:r>
          </a:p>
          <a:p>
            <a:pPr>
              <a:spcAft>
                <a:spcPts val="4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✓ 目测分析简便实用，仪器分析精确客观，两者相辅相成</a:t>
            </a:r>
          </a:p>
          <a:p>
            <a:pPr>
              <a:spcAft>
                <a:spcPts val="400"/>
              </a:spcAft>
              <a:defRPr sz="1700">
                <a:solidFill>
                  <a:srgbClr val="2C3E50"/>
                </a:solidFill>
                <a:latin typeface="Microsoft YaHei"/>
              </a:defRPr>
            </a:pPr>
            <a:r>
              <a:t>✓ 异常步态是神经系统和骨骼肌肉系统疾病的重要体征</a:t>
            </a:r>
          </a:p>
          <a:p>
            <a:pPr>
              <a:spcAft>
                <a:spcPts val="400"/>
              </a:spcAft>
              <a:defRPr sz="1400">
                <a:solidFill>
                  <a:srgbClr val="7F8C8D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2200" b="1">
                <a:solidFill>
                  <a:srgbClr val="1A3C6E"/>
                </a:solidFill>
                <a:latin typeface="Microsoft YaHei"/>
              </a:defRPr>
            </a:pPr>
            <a:r>
              <a:t>▎发展趋势</a:t>
            </a:r>
          </a:p>
          <a:p>
            <a:pPr>
              <a:spcAft>
                <a:spcPts val="400"/>
              </a:spcAft>
              <a:defRPr sz="1400">
                <a:solidFill>
                  <a:srgbClr val="7F8C8D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17A2B8"/>
                </a:solidFill>
                <a:latin typeface="Microsoft YaHei"/>
              </a:defRPr>
            </a:pPr>
            <a:r>
              <a:t>✦ 人工智能与机器学习：深度学习自动识别步态模式与异常分类</a:t>
            </a:r>
          </a:p>
          <a:p>
            <a:pPr>
              <a:spcAft>
                <a:spcPts val="400"/>
              </a:spcAft>
              <a:defRPr sz="1700" b="1">
                <a:solidFill>
                  <a:srgbClr val="17A2B8"/>
                </a:solidFill>
                <a:latin typeface="Microsoft YaHei"/>
              </a:defRPr>
            </a:pPr>
            <a:r>
              <a:t>✦ 可穿戴技术：IMU传感器实现日常环境下的连续步态监测</a:t>
            </a:r>
          </a:p>
          <a:p>
            <a:pPr>
              <a:spcAft>
                <a:spcPts val="400"/>
              </a:spcAft>
              <a:defRPr sz="1700" b="1">
                <a:solidFill>
                  <a:srgbClr val="17A2B8"/>
                </a:solidFill>
                <a:latin typeface="Microsoft YaHei"/>
              </a:defRPr>
            </a:pPr>
            <a:r>
              <a:t>✦ 虚拟现实（VR）与增强现实（AR）：沉浸式步态训练与反馈</a:t>
            </a:r>
          </a:p>
          <a:p>
            <a:pPr>
              <a:spcAft>
                <a:spcPts val="400"/>
              </a:spcAft>
              <a:defRPr sz="1700" b="1">
                <a:solidFill>
                  <a:srgbClr val="17A2B8"/>
                </a:solidFill>
                <a:latin typeface="Microsoft YaHei"/>
              </a:defRPr>
            </a:pPr>
            <a:r>
              <a:t>✦ 远程康复：5G+步态分析实现远程评估与指导</a:t>
            </a:r>
          </a:p>
          <a:p>
            <a:pPr>
              <a:spcAft>
                <a:spcPts val="400"/>
              </a:spcAft>
              <a:defRPr sz="1700" b="1">
                <a:solidFill>
                  <a:srgbClr val="17A2B8"/>
                </a:solidFill>
                <a:latin typeface="Microsoft YaHei"/>
              </a:defRPr>
            </a:pPr>
            <a:r>
              <a:t>✦ 个性化医疗：步态大数据驱动精准康复方案制定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645920"/>
          </a:xfrm>
          <a:prstGeom prst="rect">
            <a:avLst/>
          </a:prstGeom>
          <a:solidFill>
            <a:srgbClr val="14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109728" cy="2743200"/>
          </a:xfrm>
          <a:prstGeom prst="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7A2B8"/>
                </a:solidFill>
                <a:latin typeface="Microsoft YaHei"/>
              </a:defRPr>
            </a:pPr>
            <a:r>
              <a:t>Gait Analysis — 严谨评估 · 科学康复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7F8C8D"/>
                </a:solidFill>
                <a:latin typeface="Microsoft YaHe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