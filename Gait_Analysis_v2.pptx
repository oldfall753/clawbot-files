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73152" cy="3108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91440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18872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46304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73736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201168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0" y="5486400"/>
            <a:ext cx="54864" cy="54864"/>
          </a:xfrm>
          <a:prstGeom prst="ellipse">
            <a:avLst/>
          </a:prstGeom>
          <a:solidFill>
            <a:srgbClr val="45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07040" y="5120640"/>
            <a:ext cx="54864" cy="54864"/>
          </a:xfrm>
          <a:prstGeom prst="ellipse">
            <a:avLst/>
          </a:prstGeom>
          <a:solidFill>
            <a:srgbClr val="45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0" y="4754880"/>
            <a:ext cx="54864" cy="54864"/>
          </a:xfrm>
          <a:prstGeom prst="ellipse">
            <a:avLst/>
          </a:prstGeom>
          <a:solidFill>
            <a:srgbClr val="45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400" b="1">
                <a:solidFill>
                  <a:srgbClr val="FFFFFF"/>
                </a:solidFill>
                <a:latin typeface="Microsoft YaHei"/>
              </a:rPr>
              <a:t>步  态  分  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00B4D8"/>
                </a:solidFill>
                <a:latin typeface="Segoe UI"/>
              </a:rPr>
              <a:t>G A I T    A N A L Y S I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931920"/>
            <a:ext cx="320040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8BA3C7"/>
                </a:solidFill>
                <a:latin typeface="Microsoft YaHei"/>
              </a:rPr>
              <a:t>临床评估与康复指导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07898"/>
                </a:solidFill>
                <a:latin typeface="Microsoft YaHei"/>
              </a:rPr>
              <a:t>康复医学科  |  步态分析专题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目  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886968"/>
            <a:ext cx="502920" cy="50292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8686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1">
                <a:solidFill>
                  <a:srgbClr val="1B2A4A"/>
                </a:solidFill>
                <a:latin typeface="Microsoft YaHei"/>
              </a:rPr>
              <a:t>步态分析概述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21615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定义、目的与意义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79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6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6112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5256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832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0976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0120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9264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7552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6696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5840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4128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1560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0704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9848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8992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8136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7280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06424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5568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4712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338560" y="109728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" y="1636776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1640" y="1618488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1">
                <a:solidFill>
                  <a:srgbClr val="1B2A4A"/>
                </a:solidFill>
                <a:latin typeface="Microsoft YaHei"/>
              </a:rPr>
              <a:t>步态周期与分期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40" y="1965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支撑相与摆动相详解</a:t>
            </a:r>
          </a:p>
        </p:txBody>
      </p:sp>
      <p:sp>
        <p:nvSpPr>
          <p:cNvPr id="54" name="Oval 53"/>
          <p:cNvSpPr/>
          <p:nvPr/>
        </p:nvSpPr>
        <p:spPr>
          <a:xfrm>
            <a:off x="777240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384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55279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4672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3816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22960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32104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41248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50392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59536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68680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77824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86968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6112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05256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4400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3544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2688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1832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0976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0120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69264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78408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7552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6696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5840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984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4128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3272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2416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1560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0704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69848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78992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88136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97280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6424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15568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4712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338560" y="184708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14400" y="2386584"/>
            <a:ext cx="502920" cy="50292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91640" y="2368296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1">
                <a:solidFill>
                  <a:srgbClr val="1B2A4A"/>
                </a:solidFill>
                <a:latin typeface="Microsoft YaHei"/>
              </a:rPr>
              <a:t>正常步态参数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91640" y="271576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时空·运动学·动力学参数</a:t>
            </a:r>
          </a:p>
        </p:txBody>
      </p:sp>
      <p:sp>
        <p:nvSpPr>
          <p:cNvPr id="97" name="Oval 96"/>
          <p:cNvSpPr/>
          <p:nvPr/>
        </p:nvSpPr>
        <p:spPr>
          <a:xfrm>
            <a:off x="777240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86384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955279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04672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13816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22960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32104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41248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50392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59536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68680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77824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86968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96112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05256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14400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23544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32688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41832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50976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60120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69264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78408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987552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96696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05840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14984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24128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33272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42416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51560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60704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69848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78992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88136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97280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06424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15568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24712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338560" y="2596896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14400" y="3136392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691640" y="3118104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1">
                <a:solidFill>
                  <a:srgbClr val="1B2A4A"/>
                </a:solidFill>
                <a:latin typeface="Microsoft YaHei"/>
              </a:rPr>
              <a:t>步态分析方法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691640" y="346557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目测法与仪器分析法</a:t>
            </a:r>
          </a:p>
        </p:txBody>
      </p:sp>
      <p:sp>
        <p:nvSpPr>
          <p:cNvPr id="140" name="Oval 139"/>
          <p:cNvSpPr/>
          <p:nvPr/>
        </p:nvSpPr>
        <p:spPr>
          <a:xfrm>
            <a:off x="777240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86384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955279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04672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13816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22960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32104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41248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50392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59536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8680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77824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86968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96112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05256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14400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23544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32688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41832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50976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60120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69264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78408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87552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96696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05840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14984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24128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33272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42416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51560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60704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69848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78992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88136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97280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06424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15568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24712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1338560" y="3346704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14400" y="3886199"/>
            <a:ext cx="502920" cy="50292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691640" y="3867911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1">
                <a:solidFill>
                  <a:srgbClr val="1B2A4A"/>
                </a:solidFill>
                <a:latin typeface="Microsoft YaHei"/>
              </a:rPr>
              <a:t>常见异常步态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691640" y="4215383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八类异常步态图鉴</a:t>
            </a:r>
          </a:p>
        </p:txBody>
      </p:sp>
      <p:sp>
        <p:nvSpPr>
          <p:cNvPr id="183" name="Oval 182"/>
          <p:cNvSpPr/>
          <p:nvPr/>
        </p:nvSpPr>
        <p:spPr>
          <a:xfrm>
            <a:off x="777240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86384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955279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04672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13816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22960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2104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41248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50392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59536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68680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77824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96112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05256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14400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923544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32688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41832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50976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60120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69264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78408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87552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96696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005840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014984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024128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033272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042416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051560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060704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69848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078992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88136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97280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6424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15568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24712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338560" y="4096511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14400" y="4636007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691640" y="46177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1">
                <a:solidFill>
                  <a:srgbClr val="1B2A4A"/>
                </a:solidFill>
                <a:latin typeface="Microsoft YaHei"/>
              </a:rPr>
              <a:t>临床应用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691640" y="49651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四大领域的应用实践</a:t>
            </a:r>
          </a:p>
        </p:txBody>
      </p:sp>
      <p:sp>
        <p:nvSpPr>
          <p:cNvPr id="226" name="Oval 225"/>
          <p:cNvSpPr/>
          <p:nvPr/>
        </p:nvSpPr>
        <p:spPr>
          <a:xfrm>
            <a:off x="777240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786384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7955279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804672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13816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22960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832104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841248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850392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859536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868680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77824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886968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96112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05256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14400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23544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32688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41832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50976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20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69264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8408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7552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996696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05840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14984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24128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3272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42416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51560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60704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69848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78992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88136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97280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06424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15568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24712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338560" y="4846320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914400" y="5385816"/>
            <a:ext cx="502920" cy="50292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691640" y="5367528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1">
                <a:solidFill>
                  <a:srgbClr val="1B2A4A"/>
                </a:solidFill>
                <a:latin typeface="Microsoft YaHei"/>
              </a:rPr>
              <a:t>总结与展望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691640" y="57150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回顾核心要点与未来方向</a:t>
            </a:r>
          </a:p>
        </p:txBody>
      </p:sp>
      <p:sp>
        <p:nvSpPr>
          <p:cNvPr id="269" name="Oval 268"/>
          <p:cNvSpPr/>
          <p:nvPr/>
        </p:nvSpPr>
        <p:spPr>
          <a:xfrm>
            <a:off x="777240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86384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955279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804672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13816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60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832104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841248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850392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859536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68680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77824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886968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896112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905256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914400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923544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932688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941832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950976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60120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9264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978408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87552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996696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005840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014984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024128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033272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042416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051560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060704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069848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078992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088136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1097280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106424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5568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24712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338560" y="5596128"/>
            <a:ext cx="18288" cy="18288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8412480" y="1645920"/>
            <a:ext cx="3200400" cy="4572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8686800" y="1828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770B8"/>
                </a:solidFill>
                <a:latin typeface="Segoe UI"/>
              </a:rPr>
              <a:t>Gait Analysis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8686800" y="2286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770B8"/>
                </a:solidFill>
                <a:latin typeface="Microsoft YaHei"/>
              </a:rPr>
              <a:t>60%  支撑相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48C0A"/>
                </a:solidFill>
                <a:latin typeface="Microsoft YaHei"/>
              </a:rPr>
              <a:t>40%  摆动相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8686800" y="31089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约 1.0~1.5 秒 / 周期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8686800" y="3474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步频 ~110 步/分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686800" y="3840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步速 ~1.3 m/s</a:t>
            </a:r>
          </a:p>
        </p:txBody>
      </p:sp>
      <p:sp>
        <p:nvSpPr>
          <p:cNvPr id="316" name="Arc 315"/>
          <p:cNvSpPr/>
          <p:nvPr/>
        </p:nvSpPr>
        <p:spPr>
          <a:xfrm>
            <a:off x="9555480" y="4434840"/>
            <a:ext cx="1005840" cy="1005840"/>
          </a:xfrm>
          <a:prstGeom prst="arc">
            <a:avLst/>
          </a:prstGeom>
          <a:noFill/>
          <a:ln w="381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Arc 316"/>
          <p:cNvSpPr/>
          <p:nvPr/>
        </p:nvSpPr>
        <p:spPr>
          <a:xfrm>
            <a:off x="9555480" y="4434840"/>
            <a:ext cx="1005840" cy="1005840"/>
          </a:xfrm>
          <a:prstGeom prst="arc">
            <a:avLst/>
          </a:prstGeom>
          <a:noFill/>
          <a:ln w="381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9601200" y="48006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B2A4A"/>
                </a:solidFill>
                <a:latin typeface="Segoe UI"/>
              </a:rPr>
              <a:t>1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步态分析概述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51560"/>
            <a:ext cx="3474720" cy="7315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325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步态的定义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31089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步态（Gait）是人体行走时
的行为特征，是中枢神经系
统调控下，肌肉骨骼系统协
调运动的周期性运动模式。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05156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051560"/>
            <a:ext cx="3474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59" y="128016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325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步态分析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874519"/>
            <a:ext cx="31089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201168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利用生物力学与运动学原理，
通过观测或仪器手段，对人
体步行方式进行定量或定性
分析的一门技术。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05156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051560"/>
            <a:ext cx="3474720" cy="7315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599" y="1280160"/>
            <a:ext cx="502920" cy="502920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325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临床价值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1874519"/>
            <a:ext cx="31089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01168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识别异常步态、辅助诊断、
制定康复方案、评估疗效、
指导矫形器与假肢的适配
设计。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▎步态分析的目的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" y="4800600"/>
            <a:ext cx="457200" cy="45720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>
                <a:latin typeface="Segoe UI Emoji"/>
              </a:rPr>
              <a:t>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</a:rPr>
              <a:t>功能评估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评估步行功能状态，
建立基线数据</a:t>
            </a:r>
          </a:p>
        </p:txBody>
      </p:sp>
      <p:sp>
        <p:nvSpPr>
          <p:cNvPr id="30" name="Oval 29"/>
          <p:cNvSpPr/>
          <p:nvPr/>
        </p:nvSpPr>
        <p:spPr>
          <a:xfrm>
            <a:off x="3246120" y="48006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>
                <a:latin typeface="Segoe UI Emoji"/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349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</a:rPr>
              <a:t>辅助诊断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623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识别神经系统与骨
骼肌肉系统疾病</a:t>
            </a:r>
          </a:p>
        </p:txBody>
      </p:sp>
      <p:sp>
        <p:nvSpPr>
          <p:cNvPr id="33" name="Oval 32"/>
          <p:cNvSpPr/>
          <p:nvPr/>
        </p:nvSpPr>
        <p:spPr>
          <a:xfrm>
            <a:off x="5532120" y="4800600"/>
            <a:ext cx="457200" cy="457200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>
                <a:latin typeface="Segoe UI Emoji"/>
              </a:rPr>
              <a:t>#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349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</a:rPr>
              <a:t>方案制定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623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制定个性化康复训
练治疗方案</a:t>
            </a:r>
          </a:p>
        </p:txBody>
      </p:sp>
      <p:sp>
        <p:nvSpPr>
          <p:cNvPr id="36" name="Oval 35"/>
          <p:cNvSpPr/>
          <p:nvPr/>
        </p:nvSpPr>
        <p:spPr>
          <a:xfrm>
            <a:off x="7818120" y="4800600"/>
            <a:ext cx="457200" cy="45720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>
                <a:latin typeface="Segoe UI Emoji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349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</a:rPr>
              <a:t>疗效评价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623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量化追踪治疗前后
步行功能变化</a:t>
            </a:r>
          </a:p>
        </p:txBody>
      </p:sp>
      <p:sp>
        <p:nvSpPr>
          <p:cNvPr id="39" name="Oval 38"/>
          <p:cNvSpPr/>
          <p:nvPr/>
        </p:nvSpPr>
        <p:spPr>
          <a:xfrm>
            <a:off x="10104120" y="4800600"/>
            <a:ext cx="457200" cy="4572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>
                <a:latin typeface="Segoe UI Emoji"/>
              </a:rPr>
              <a:t>@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349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</a:rPr>
              <a:t>辅具适配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623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指导矫形器、假肢
与助行器设计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步态周期总览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10972800" cy="640080"/>
          </a:xfrm>
          <a:prstGeom prst="roundRect">
            <a:avLst/>
          </a:prstGeom>
          <a:solidFill>
            <a:srgbClr val="E8F4FE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2A4A"/>
                </a:solidFill>
                <a:latin typeface="Microsoft YaHei"/>
              </a:rPr>
              <a:t>步态周期（Gait Cycle）：从一侧足跟着地到同侧足跟再次着地所经历的时间，约 1.0~1.5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2A4A"/>
                </a:solidFill>
                <a:latin typeface="Microsoft YaHei"/>
              </a:rPr>
              <a:t>步态周期时间轴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6583680" cy="50292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支撑相  STANCE  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331720"/>
            <a:ext cx="4389120" cy="502920"/>
          </a:xfrm>
          <a:prstGeom prst="round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摆动相  SWING  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007" y="2834639"/>
            <a:ext cx="18288" cy="13716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" y="2999232"/>
            <a:ext cx="868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770B8"/>
                </a:solidFill>
                <a:latin typeface="Microsoft YaHei"/>
              </a:rPr>
              <a:t>首次着地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3744" y="2834639"/>
            <a:ext cx="18288" cy="13716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2264" y="2999232"/>
            <a:ext cx="868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770B8"/>
                </a:solidFill>
                <a:latin typeface="Microsoft YaHei"/>
              </a:rPr>
              <a:t>承重反应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79" y="2834639"/>
            <a:ext cx="18288" cy="13716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8999" y="2999232"/>
            <a:ext cx="868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770B8"/>
                </a:solidFill>
                <a:latin typeface="Microsoft YaHei"/>
              </a:rPr>
              <a:t>支撑中期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7216" y="2834639"/>
            <a:ext cx="18288" cy="13716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45736" y="2999232"/>
            <a:ext cx="868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770B8"/>
                </a:solidFill>
                <a:latin typeface="Microsoft YaHei"/>
              </a:rPr>
              <a:t>支撑末期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1" y="2834639"/>
            <a:ext cx="18288" cy="13716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1" y="2999232"/>
            <a:ext cx="868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770B8"/>
                </a:solidFill>
                <a:latin typeface="Microsoft YaHei"/>
              </a:rPr>
              <a:t>摆动前期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834639"/>
            <a:ext cx="18288" cy="137160"/>
          </a:xfrm>
          <a:prstGeom prst="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999232"/>
            <a:ext cx="868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48C0A"/>
                </a:solidFill>
                <a:latin typeface="Microsoft YaHei"/>
              </a:rPr>
              <a:t>摆动初期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834639"/>
            <a:ext cx="18288" cy="137160"/>
          </a:xfrm>
          <a:prstGeom prst="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2999232"/>
            <a:ext cx="868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48C0A"/>
                </a:solidFill>
                <a:latin typeface="Microsoft YaHei"/>
              </a:rPr>
              <a:t>摆动中期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19" y="2834639"/>
            <a:ext cx="18288" cy="137160"/>
          </a:xfrm>
          <a:prstGeom prst="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2999232"/>
            <a:ext cx="868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48C0A"/>
                </a:solidFill>
                <a:latin typeface="Microsoft YaHei"/>
              </a:rPr>
              <a:t>摆动末期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337559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0%  足跟着地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337559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B2A4A"/>
                </a:solidFill>
                <a:latin typeface="Segoe UI"/>
              </a:rPr>
              <a:t>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05740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DA44E"/>
                </a:solidFill>
                <a:latin typeface="Microsoft YaHei"/>
              </a:rPr>
              <a:t>40%~60% 双支撑相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3337559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B2A4A"/>
                </a:solidFill>
                <a:latin typeface="Segoe UI"/>
              </a:rPr>
              <a:t>100%</a:t>
            </a:r>
          </a:p>
        </p:txBody>
      </p:sp>
      <p:sp>
        <p:nvSpPr>
          <p:cNvPr id="33" name="Oval 32"/>
          <p:cNvSpPr/>
          <p:nvPr/>
        </p:nvSpPr>
        <p:spPr>
          <a:xfrm>
            <a:off x="1874519" y="4526280"/>
            <a:ext cx="1371600" cy="1371600"/>
          </a:xfrm>
          <a:prstGeom prst="ellipse">
            <a:avLst/>
          </a:prstGeom>
          <a:noFill/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416052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770B8"/>
                </a:solidFill>
                <a:latin typeface="Microsoft YaHei"/>
              </a:rPr>
              <a:t>足跟着地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66344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770B8"/>
                </a:solidFill>
                <a:latin typeface="Microsoft YaHei"/>
              </a:rPr>
              <a:t>支撑中期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557784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48C0A"/>
                </a:solidFill>
                <a:latin typeface="Microsoft YaHei"/>
              </a:rPr>
              <a:t>足趾离地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44068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48C0A"/>
                </a:solidFill>
                <a:latin typeface="Microsoft YaHei"/>
              </a:rPr>
              <a:t>摆动末期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0749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B2A4A"/>
                </a:solidFill>
                <a:latin typeface="Segoe UI"/>
              </a:rPr>
              <a:t>1 Cycle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523744" y="4416552"/>
            <a:ext cx="73152" cy="73152"/>
          </a:xfrm>
          <a:prstGeom prst="triangl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9720000">
            <a:off x="3245550" y="4940974"/>
            <a:ext cx="73152" cy="73152"/>
          </a:xfrm>
          <a:prstGeom prst="triangl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4040000">
            <a:off x="2969844" y="5789509"/>
            <a:ext cx="73152" cy="73152"/>
          </a:xfrm>
          <a:prstGeom prst="triangl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18360000">
            <a:off x="2077643" y="5789509"/>
            <a:ext cx="73152" cy="73152"/>
          </a:xfrm>
          <a:prstGeom prst="triangl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1080000">
            <a:off x="1801937" y="4940974"/>
            <a:ext cx="73152" cy="73152"/>
          </a:xfrm>
          <a:prstGeom prst="triangl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0" y="4389120"/>
            <a:ext cx="5669280" cy="18288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17920" y="4617720"/>
            <a:ext cx="182880" cy="18288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572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步态周期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82803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约 1.0~1.5 秒</a:t>
            </a:r>
          </a:p>
        </p:txBody>
      </p:sp>
      <p:sp>
        <p:nvSpPr>
          <p:cNvPr id="48" name="Oval 47"/>
          <p:cNvSpPr/>
          <p:nvPr/>
        </p:nvSpPr>
        <p:spPr>
          <a:xfrm>
            <a:off x="8961120" y="4617720"/>
            <a:ext cx="182880" cy="18288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4572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支撑相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82803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约 60%（0.6~0.9s）</a:t>
            </a:r>
          </a:p>
        </p:txBody>
      </p:sp>
      <p:sp>
        <p:nvSpPr>
          <p:cNvPr id="51" name="Oval 50"/>
          <p:cNvSpPr/>
          <p:nvPr/>
        </p:nvSpPr>
        <p:spPr>
          <a:xfrm>
            <a:off x="6217920" y="5394959"/>
            <a:ext cx="182880" cy="18288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349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摆动相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60527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约 40%（0.4~0.6s）</a:t>
            </a:r>
          </a:p>
        </p:txBody>
      </p:sp>
      <p:sp>
        <p:nvSpPr>
          <p:cNvPr id="54" name="Oval 53"/>
          <p:cNvSpPr/>
          <p:nvPr/>
        </p:nvSpPr>
        <p:spPr>
          <a:xfrm>
            <a:off x="8961120" y="5394959"/>
            <a:ext cx="182880" cy="182880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5349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双支撑相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60527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约 10~20%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支撑相（Stance Phase）详解  ·  60%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2194560" cy="7315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4048" y="1078992"/>
            <a:ext cx="365760" cy="3657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078992"/>
            <a:ext cx="1463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首次着地
Initial 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463040"/>
            <a:ext cx="1920240" cy="1920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足跟着地瞬间，下肢开始
承重，膝关节轻度屈曲，
踝关节背屈约0°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9144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914400"/>
            <a:ext cx="2194560" cy="7315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15768" y="1078992"/>
            <a:ext cx="365760" cy="3657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399" y="1078992"/>
            <a:ext cx="1463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承重反应
Loading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199" y="1463040"/>
            <a:ext cx="1920240" cy="1920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体重逐渐转移至支撑腿，
膝关节屈曲达峰值（~15°），
踝关节跖屈过渡至中立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9144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914400"/>
            <a:ext cx="2194560" cy="7315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47488" y="1078992"/>
            <a:ext cx="365760" cy="3657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078992"/>
            <a:ext cx="1463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支撑中期
Mid 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463040"/>
            <a:ext cx="1920240" cy="1920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单腿支撑期，重心移至支
撑足正上方，膝关节近伸
直位，髋关节中立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79" y="9144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914400"/>
            <a:ext cx="2194560" cy="7315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79207" y="1078992"/>
            <a:ext cx="365760" cy="3657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078992"/>
            <a:ext cx="1463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支撑末期
Terminal 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463040"/>
            <a:ext cx="1920240" cy="1920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足跟离地，重心前移过足
趾，髋关节过伸，踝关节
主动跖屈推进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9144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914400"/>
            <a:ext cx="2194560" cy="7315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10928" y="1078992"/>
            <a:ext cx="365760" cy="3657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078992"/>
            <a:ext cx="1463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摆动前期
Pre-swing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1463040"/>
            <a:ext cx="1920240" cy="1920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足趾即将离地，对侧足着
地形成双支撑，膝关节开
始屈曲准备摆动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Microsoft YaHei"/>
              </a:rPr>
              <a:t>▎足底接触模式示意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2519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9808" y="4270248"/>
            <a:ext cx="246888" cy="603504"/>
          </a:xfrm>
          <a:prstGeom prst="roundRect">
            <a:avLst/>
          </a:prstGeom>
          <a:solidFill>
            <a:srgbClr val="17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2423160" y="4434840"/>
            <a:ext cx="548640" cy="22860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9834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B2A4A"/>
                </a:solidFill>
                <a:latin typeface="Microsoft YaHei"/>
              </a:rPr>
              <a:t>足跟
着地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3239" y="42519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081527" y="4270248"/>
            <a:ext cx="822960" cy="603504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4754879" y="4434840"/>
            <a:ext cx="548640" cy="22860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59" y="49834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B2A4A"/>
                </a:solidFill>
                <a:latin typeface="Microsoft YaHei"/>
              </a:rPr>
              <a:t>全足
承重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4959" y="42519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13247" y="4270248"/>
            <a:ext cx="1152144" cy="603504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7086600" y="4434840"/>
            <a:ext cx="548640" cy="22860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79" y="49834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B2A4A"/>
                </a:solidFill>
                <a:latin typeface="Microsoft YaHei"/>
              </a:rPr>
              <a:t>单足
支撑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26679" y="42519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744967" y="4270248"/>
            <a:ext cx="987552" cy="603504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9418319" y="4434840"/>
            <a:ext cx="548640" cy="22860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9834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B2A4A"/>
                </a:solidFill>
                <a:latin typeface="Microsoft YaHei"/>
              </a:rPr>
              <a:t>前足
推进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0" y="42519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076688" y="4270248"/>
            <a:ext cx="411480" cy="603504"/>
          </a:xfrm>
          <a:prstGeom prst="roundRect">
            <a:avLst/>
          </a:prstGeom>
          <a:solidFill>
            <a:srgbClr val="45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32720" y="498348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B2A4A"/>
                </a:solidFill>
                <a:latin typeface="Microsoft YaHei"/>
              </a:rPr>
              <a:t>足趾
离地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703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Microsoft YaHei"/>
              </a:rPr>
              <a:t>▎地面反作用力（GRF）曲线示意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0" y="5989320"/>
            <a:ext cx="4114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0" y="4160520"/>
            <a:ext cx="18288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760970" y="5522976"/>
            <a:ext cx="240029" cy="466344"/>
          </a:xfrm>
          <a:prstGeom prst="roundRect">
            <a:avLst/>
          </a:prstGeom>
          <a:solidFill>
            <a:srgbClr val="A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103870" y="5212080"/>
            <a:ext cx="240029" cy="777240"/>
          </a:xfrm>
          <a:prstGeom prst="roundRect">
            <a:avLst/>
          </a:prstGeom>
          <a:solidFill>
            <a:srgbClr val="A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446770" y="4668012"/>
            <a:ext cx="240029" cy="1321307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789670" y="5056631"/>
            <a:ext cx="240029" cy="932688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32570" y="4823460"/>
            <a:ext cx="240029" cy="116586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475470" y="4590288"/>
            <a:ext cx="240029" cy="1399032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818370" y="5056631"/>
            <a:ext cx="240029" cy="932688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161270" y="5367528"/>
            <a:ext cx="240029" cy="621792"/>
          </a:xfrm>
          <a:prstGeom prst="roundRect">
            <a:avLst/>
          </a:prstGeom>
          <a:solidFill>
            <a:srgbClr val="A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504170" y="5445252"/>
            <a:ext cx="240029" cy="544068"/>
          </a:xfrm>
          <a:prstGeom prst="roundRect">
            <a:avLst/>
          </a:prstGeom>
          <a:solidFill>
            <a:srgbClr val="A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847070" y="5756148"/>
            <a:ext cx="240029" cy="233172"/>
          </a:xfrm>
          <a:prstGeom prst="roundRect">
            <a:avLst/>
          </a:prstGeom>
          <a:solidFill>
            <a:srgbClr val="A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1189970" y="5989320"/>
            <a:ext cx="240029" cy="0"/>
          </a:xfrm>
          <a:prstGeom prst="roundRect">
            <a:avLst/>
          </a:prstGeom>
          <a:solidFill>
            <a:srgbClr val="A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89520" y="60350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0%  足跟着地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600" y="60350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60%  足趾离地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47120" y="603504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100%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489204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B7280"/>
                </a:solidFill>
                <a:latin typeface="Microsoft YaHei"/>
              </a:rPr>
              <a:t>GRF
(BW)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42062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770B8"/>
                </a:solidFill>
                <a:latin typeface="Microsoft YaHei"/>
              </a:rPr>
              <a:t>第一峰值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40" y="516636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B7280"/>
                </a:solidFill>
                <a:latin typeface="Microsoft YaHei"/>
              </a:rPr>
              <a:t>谷值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416052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770B8"/>
                </a:solidFill>
                <a:latin typeface="Microsoft YaHei"/>
              </a:rPr>
              <a:t>第二峰值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摆动相（Swing Phase）详解  ·  40%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3474720" cy="73152"/>
          </a:xfrm>
          <a:prstGeom prst="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097280"/>
            <a:ext cx="457200" cy="45720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124712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摆动初期
Initial Swing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32004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74519"/>
            <a:ext cx="3200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足离地后加速前摆，髋关节
屈曲加速（~30°），膝关节
屈曲达峰值（~60°），踝
关节背屈开始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9144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914400"/>
            <a:ext cx="3474720" cy="73152"/>
          </a:xfrm>
          <a:prstGeom prst="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1097280"/>
            <a:ext cx="457200" cy="45720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124712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摆动中期
Mid Swing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783080"/>
            <a:ext cx="32004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874519"/>
            <a:ext cx="3200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下肢在身体下方摆动通过，
髋关节屈曲持续，膝关节
从最大屈曲位开始伸展，
踝关节保持背屈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9144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914400"/>
            <a:ext cx="3474720" cy="73152"/>
          </a:xfrm>
          <a:prstGeom prst="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20" y="1097280"/>
            <a:ext cx="457200" cy="45720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124712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摆动末期
Terminal Swing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1783080"/>
            <a:ext cx="32004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874519"/>
            <a:ext cx="3200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下肢减速准备着地，膝关
节接近完全伸展，踝关节
背屈维持，髋关节开始伸
展减速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Microsoft YaHei"/>
              </a:rPr>
              <a:t>▎摆动相下肢位置示意（矢状面）</a:t>
            </a:r>
          </a:p>
        </p:txBody>
      </p:sp>
      <p:sp>
        <p:nvSpPr>
          <p:cNvPr id="27" name="Oval 26"/>
          <p:cNvSpPr/>
          <p:nvPr/>
        </p:nvSpPr>
        <p:spPr>
          <a:xfrm>
            <a:off x="2468880" y="5257800"/>
            <a:ext cx="137160" cy="13716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0700000">
            <a:off x="2459736" y="5394960"/>
            <a:ext cx="36576" cy="73152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0100000">
            <a:off x="2459736" y="6172200"/>
            <a:ext cx="32004" cy="64008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59736" y="6812280"/>
            <a:ext cx="457200" cy="73152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70866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48C0A"/>
                </a:solidFill>
                <a:latin typeface="Microsoft YaHei"/>
              </a:rPr>
              <a:t>摆动初期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73609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髋: 30°屈
膝: 60°屈
踝: 中立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749039" y="5989320"/>
            <a:ext cx="457200" cy="18288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86400" y="5257800"/>
            <a:ext cx="137160" cy="13716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1120000">
            <a:off x="5477256" y="5394960"/>
            <a:ext cx="36576" cy="73152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1000000">
            <a:off x="5477256" y="6172200"/>
            <a:ext cx="32004" cy="64008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77256" y="6812280"/>
            <a:ext cx="457200" cy="73152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70866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48C0A"/>
                </a:solidFill>
                <a:latin typeface="Microsoft YaHei"/>
              </a:rPr>
              <a:t>摆动中期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73609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髋: 25°屈
膝: 30°屈
踝: 背屈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766560" y="5989320"/>
            <a:ext cx="457200" cy="18288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03919" y="5257800"/>
            <a:ext cx="137160" cy="13716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300000">
            <a:off x="8494776" y="5394960"/>
            <a:ext cx="36576" cy="73152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1420000">
            <a:off x="8494776" y="6172200"/>
            <a:ext cx="32004" cy="64008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94776" y="6812280"/>
            <a:ext cx="457200" cy="73152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70866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48C0A"/>
                </a:solidFill>
                <a:latin typeface="Microsoft YaHei"/>
              </a:rPr>
              <a:t>摆动末期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73609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髋: 10°伸
膝: 5°屈
踝: 背屈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943600"/>
            <a:ext cx="10972800" cy="502920"/>
          </a:xfrm>
          <a:prstGeom prst="roundRect">
            <a:avLst/>
          </a:prstGeom>
          <a:solidFill>
            <a:srgbClr val="FFF8EE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A5B00"/>
                </a:solidFill>
                <a:latin typeface="Microsoft YaHei"/>
              </a:rPr>
              <a:t>要点：摆动相的核心目标是足廓清（Foot Clearance）—— 确保足趾不拖地。任何原因导致的足下垂、膝屈曲不足都会影响步行安全。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正常步态参数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60120"/>
            <a:ext cx="3566160" cy="45720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时空参数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4864" cy="86868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步长 Step 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50~80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一侧足跟着地至对侧足跟着地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6032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0603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步幅 Stride 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3463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100~160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同侧足跟两次着地间距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2044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20440"/>
            <a:ext cx="54864" cy="86868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66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步宽 Step Width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5~10 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50791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两足跟中心横向距离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48056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54864" cy="86868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262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步速 Gait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1.2~1.5 m/s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109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步行前进速度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44068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54864" cy="868680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864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步频 Cadence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150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100~120 步/分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9710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每分钟步数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960120"/>
            <a:ext cx="356616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运动学参数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160020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1600200"/>
            <a:ext cx="54864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1645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髋关节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屈伸范围 ~30°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21305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支撑末期过伸 ~10°，摆动中期屈曲 ~25°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256032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2560320"/>
            <a:ext cx="54864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400" y="260603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膝关节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283463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屈伸范围 ~60°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0906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承重反应屈曲 ~15°，摆动中期屈曲 ~60°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6240" y="352044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06240" y="3520440"/>
            <a:ext cx="54864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3566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踝关节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3794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屈伸范围 ~30°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050791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支撑末期跖屈 ~20°，摆动中期背屈 ~10°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448056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0" y="4480560"/>
            <a:ext cx="54864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400" y="45262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骨盆旋转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前后旋转 ~8°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50109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随步行周期在矢状面旋转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0" y="544068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06240" y="5440680"/>
            <a:ext cx="54864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3400" y="54864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重心轨迹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57150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上下 ~5cm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43400" y="59710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正弦波形上下左右移动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960120"/>
            <a:ext cx="3566160" cy="457200"/>
          </a:xfrm>
          <a:prstGeom prst="round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动力学参数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46720" y="160020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46720" y="1600200"/>
            <a:ext cx="54864" cy="86868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80" y="1645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地面反作用力 GRF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80" y="187451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峰值 ~1.2 BW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80" y="21305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M 形双峰曲线，两个体重倍数峰值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46720" y="256032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46720" y="2560320"/>
            <a:ext cx="54864" cy="86868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83880" y="260603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髋关节力矩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83880" y="283463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伸展力矩为主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83880" y="30906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支撑期产生推进力矩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46720" y="352044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046720" y="3520440"/>
            <a:ext cx="54864" cy="86868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83880" y="3566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膝关节力矩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83880" y="3794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屈曲→伸展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80" y="4050791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支撑期稳定膝关节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46720" y="448056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0" y="4480560"/>
            <a:ext cx="54864" cy="86868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83880" y="45262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踝关节力矩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8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跖屈力矩为主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83880" y="50109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支撑末期提供推进力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046720" y="544068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46720" y="5440680"/>
            <a:ext cx="54864" cy="86868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83880" y="54864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肌电活动 EMG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83880" y="57150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2A4A"/>
                </a:solidFill>
                <a:latin typeface="Microsoft YaHei"/>
              </a:rPr>
              <a:t>时序性激活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83880" y="59710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各肌群按精确时序配合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步态分析方法 — 目测分析法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68580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Microsoft YaHei"/>
              </a:rPr>
              <a:t>目测分析法（Qualitative Observation）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  临床最常用、最基础的步态评估方法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56231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  多角度观察：正面、侧面、背面、行走远近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  观察维度：躯干姿势、骨盆运动、各关节活动、对称性与协调性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51176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  常用量表：Rancho Los Amigos 观察性步态分析（OGA）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98648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  标准化七大观察区域：上肢 / 躯干 / 骨盆 / 髋 / 膝 / 踝 / 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960120"/>
            <a:ext cx="3931920" cy="25603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051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B2A4A"/>
                </a:solidFill>
                <a:latin typeface="Microsoft YaHei"/>
              </a:rPr>
              <a:t>观察体位示意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1463040"/>
            <a:ext cx="228600" cy="228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691640"/>
            <a:ext cx="54864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480000">
            <a:off x="8247888" y="2148839"/>
            <a:ext cx="457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120000">
            <a:off x="8394192" y="2148839"/>
            <a:ext cx="457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720000">
            <a:off x="8156448" y="1737360"/>
            <a:ext cx="3657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880000">
            <a:off x="8449056" y="1737360"/>
            <a:ext cx="3657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56032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770B8"/>
                </a:solidFill>
                <a:latin typeface="Microsoft YaHei"/>
              </a:rPr>
              <a:t>正面观</a:t>
            </a:r>
          </a:p>
        </p:txBody>
      </p:sp>
      <p:sp>
        <p:nvSpPr>
          <p:cNvPr id="24" name="Oval 23"/>
          <p:cNvSpPr/>
          <p:nvPr/>
        </p:nvSpPr>
        <p:spPr>
          <a:xfrm>
            <a:off x="9418320" y="1463040"/>
            <a:ext cx="228600" cy="228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0616" y="1691640"/>
            <a:ext cx="54864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480000">
            <a:off x="9436608" y="2148839"/>
            <a:ext cx="457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1120000">
            <a:off x="9582912" y="2148839"/>
            <a:ext cx="457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720000">
            <a:off x="9345168" y="1737360"/>
            <a:ext cx="3657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0880000">
            <a:off x="9637776" y="1737360"/>
            <a:ext cx="3657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770B8"/>
                </a:solidFill>
                <a:latin typeface="Microsoft YaHei"/>
              </a:rPr>
              <a:t>侧面观</a:t>
            </a:r>
          </a:p>
        </p:txBody>
      </p:sp>
      <p:sp>
        <p:nvSpPr>
          <p:cNvPr id="31" name="Oval 30"/>
          <p:cNvSpPr/>
          <p:nvPr/>
        </p:nvSpPr>
        <p:spPr>
          <a:xfrm>
            <a:off x="10607040" y="1463040"/>
            <a:ext cx="228600" cy="228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89336" y="1691640"/>
            <a:ext cx="54864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1420000">
            <a:off x="10625328" y="2148839"/>
            <a:ext cx="457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180000">
            <a:off x="10771632" y="2148839"/>
            <a:ext cx="457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720000">
            <a:off x="10533888" y="1737360"/>
            <a:ext cx="3657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0880000">
            <a:off x="10826496" y="1737360"/>
            <a:ext cx="3657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256032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770B8"/>
                </a:solidFill>
                <a:latin typeface="Microsoft YaHei"/>
              </a:rPr>
              <a:t>背面观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49039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DA44E"/>
                </a:solidFill>
                <a:latin typeface="Microsoft YaHei"/>
              </a:rPr>
              <a:t>▎优点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114800"/>
            <a:ext cx="5669280" cy="1463040"/>
          </a:xfrm>
          <a:prstGeom prst="roundRect">
            <a:avLst/>
          </a:prstGeom>
          <a:solidFill>
            <a:srgbClr val="EAF9ED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20624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DA44E"/>
                </a:solidFill>
                <a:latin typeface="Microsoft YaHei"/>
              </a:rPr>
              <a:t>+  简便易行，无需特殊设备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526279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DA44E"/>
                </a:solidFill>
                <a:latin typeface="Microsoft YaHei"/>
              </a:rPr>
              <a:t>+  适用于快速临床筛查与初步评估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84632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DA44E"/>
                </a:solidFill>
                <a:latin typeface="Microsoft YaHei"/>
              </a:rPr>
              <a:t>+  可即时发现明显异常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166359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DA44E"/>
                </a:solidFill>
                <a:latin typeface="Microsoft YaHei"/>
              </a:rPr>
              <a:t>+  成本低，适合基层医疗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749039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DC3545"/>
                </a:solidFill>
                <a:latin typeface="Microsoft YaHei"/>
              </a:rPr>
              <a:t>▎局限性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114800"/>
            <a:ext cx="5303520" cy="146304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2062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C3545"/>
                </a:solidFill>
                <a:latin typeface="Microsoft YaHei"/>
              </a:rPr>
              <a:t>-  主观性强，观察者间一致性有限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526279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C3545"/>
                </a:solidFill>
                <a:latin typeface="Microsoft YaHei"/>
              </a:rPr>
              <a:t>-  难以量化细微变化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846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C3545"/>
                </a:solidFill>
                <a:latin typeface="Microsoft YaHei"/>
              </a:rPr>
              <a:t>-  对快速运动或复杂模式观察困难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166359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C3545"/>
                </a:solidFill>
                <a:latin typeface="Microsoft YaHei"/>
              </a:rPr>
              <a:t>-  无法精确测量关节角度与力矩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步态分析方法 — 仪器分析法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60120"/>
            <a:ext cx="2194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960120"/>
            <a:ext cx="2194560" cy="50292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三维运动捕捉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00200"/>
            <a:ext cx="1965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红外摄像头 + 反光标记点
精确记录关节运动轨迹
运动学参数：角度/速度/加速度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3794760"/>
            <a:ext cx="2048256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8404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代表系统：Vicon · Qualisys · OptiTrack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960120"/>
            <a:ext cx="2194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960120"/>
            <a:ext cx="219456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测力台分析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1600200"/>
            <a:ext cx="1965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嵌入式力传感器平台
测量三维地面反作用力（GRF）
垂直力/前后剪力/内外侧剪力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9191" y="3794760"/>
            <a:ext cx="2048256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199" y="38404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核心指标：压力中心轨迹（COP）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960120"/>
            <a:ext cx="2194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960120"/>
            <a:ext cx="2194560" cy="502920"/>
          </a:xfrm>
          <a:prstGeom prst="round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表面肌电图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1600200"/>
            <a:ext cx="1965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记录步行中肌肉电活动
分析肌肉激活时序与强度
常用肌肉：胫前肌/腓肠肌/股四头肌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2" y="3794760"/>
            <a:ext cx="2048256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8404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配合运动捕捉实现同步分析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79" y="960120"/>
            <a:ext cx="2194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79" y="960120"/>
            <a:ext cx="2194560" cy="502920"/>
          </a:xfrm>
          <a:prstGeom prst="round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可穿戴传感器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7" y="1600200"/>
            <a:ext cx="1965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加速度计 / 陀螺仪 / IMU
自然环境中长时间步态监测
便携低成本，适合社区康复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42631" y="3794760"/>
            <a:ext cx="2048256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8404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支持远程监测与大数据分析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960120"/>
            <a:ext cx="2194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960120"/>
            <a:ext cx="219456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压力分布系统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1600200"/>
            <a:ext cx="1965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智能压力垫/步态毯
分布压力传感器阵列
分析足底压力分布与平衡能力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74352" y="3794760"/>
            <a:ext cx="2048256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38404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评估足部受力模式与异常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2A4A"/>
                </a:solidFill>
                <a:latin typeface="Microsoft YaHei"/>
              </a:rPr>
              <a:t>▎各方法对比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69280"/>
            <a:ext cx="13716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5669280"/>
            <a:ext cx="109728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精度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5669280"/>
            <a:ext cx="9144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5669280"/>
            <a:ext cx="109728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便携性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5669280"/>
            <a:ext cx="32004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适用场景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03504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Microsoft YaHei"/>
              </a:rPr>
              <a:t>三维运动捕捉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603504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极高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603504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603504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603504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科研 / 术前评估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355080"/>
            <a:ext cx="137160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Microsoft YaHei"/>
              </a:rPr>
              <a:t>测力台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6355080"/>
            <a:ext cx="109728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6355080"/>
            <a:ext cx="91440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6355080"/>
            <a:ext cx="109728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6355080"/>
            <a:ext cx="320040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动力学分析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67512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Microsoft YaHei"/>
              </a:rPr>
              <a:t>表面肌电图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667512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中高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667512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667512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667512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肌肉功能评估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995160"/>
            <a:ext cx="137160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Microsoft YaHei"/>
              </a:rPr>
              <a:t>可穿戴传感器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6995160"/>
            <a:ext cx="109728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6995160"/>
            <a:ext cx="91440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低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6995160"/>
            <a:ext cx="109728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6995160"/>
            <a:ext cx="3200400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社区 / 长程监测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731520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Microsoft YaHei"/>
              </a:rPr>
              <a:t>压力分布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731520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731520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3400" y="731520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731520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足部 / 平衡评估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常见异常步态（一）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0058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2A4A"/>
                </a:solidFill>
                <a:latin typeface="Microsoft YaHei"/>
              </a:rPr>
              <a:t>偏瘫步态（划圈步态）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033272"/>
            <a:ext cx="1828800" cy="27432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脑血管意外后遗症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417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下肢伸肌痉挛模式：足下垂、足内翻、膝过伸，摆动相下肢划圈代偿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789920" y="1371600"/>
            <a:ext cx="731520" cy="320040"/>
          </a:xfrm>
          <a:prstGeom prst="rightArrow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423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2A4A"/>
                </a:solidFill>
                <a:latin typeface="Microsoft YaHei"/>
              </a:rPr>
              <a:t>剪刀步态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50592"/>
            <a:ext cx="1828800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脑瘫 / 脊髓损伤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346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髋内收肌痉挛导致双膝摩擦或交叉，呈剪刀样行走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789920" y="2788920"/>
            <a:ext cx="731520" cy="32004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40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2A4A"/>
                </a:solidFill>
                <a:latin typeface="Microsoft YaHei"/>
              </a:rPr>
              <a:t>跨阈步态（足下垂）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867912"/>
            <a:ext cx="1828800" cy="274320"/>
          </a:xfrm>
          <a:prstGeom prst="round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腓总神经损伤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2519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足下垂，摆动相屈髋代偿（"跨门槛"样动作），避免足尖拖地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789920" y="4206240"/>
            <a:ext cx="731520" cy="320040"/>
          </a:xfrm>
          <a:prstGeom prst="rightArrow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21208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257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2A4A"/>
                </a:solidFill>
                <a:latin typeface="Microsoft YaHei"/>
              </a:rPr>
              <a:t>鸭步步态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5285232"/>
            <a:ext cx="1828800" cy="274320"/>
          </a:xfrm>
          <a:prstGeom prst="round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臀中肌无力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6692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Trendelenburg征：支撑相骨盆向对侧倾斜，躯干向患侧代偿性倾斜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789920" y="5623560"/>
            <a:ext cx="731520" cy="320040"/>
          </a:xfrm>
          <a:prstGeom prst="rightArrow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常见异常步态（二）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005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2A4A"/>
                </a:solidFill>
                <a:latin typeface="Microsoft YaHei"/>
              </a:rPr>
              <a:t>帕金森步态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033272"/>
            <a:ext cx="1828800" cy="2743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帕金森病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417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小碎步、慌张步态（Festination）、起步困难、上肢摆动减少、躯干前倾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7744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23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2A4A"/>
                </a:solidFill>
                <a:latin typeface="Microsoft YaHei"/>
              </a:rPr>
              <a:t>小脑共济失调步态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450592"/>
            <a:ext cx="182880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小脑病变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346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步基增宽、步态不稳、方向偏斜、躯干摇晃，如醉酒状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2A4A"/>
                </a:solidFill>
                <a:latin typeface="Microsoft YaHei"/>
              </a:rPr>
              <a:t>短腿步态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867912"/>
            <a:ext cx="1828800" cy="2743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下肢不等长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519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患侧支撑相骨盆下降，健侧出现代偿性屈膝或足尖行走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12080"/>
            <a:ext cx="11247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257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2A4A"/>
                </a:solidFill>
                <a:latin typeface="Microsoft YaHei"/>
              </a:rPr>
              <a:t>疼痛性步态（Antalgic）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285232"/>
            <a:ext cx="182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骨关节炎 / 外伤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6692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患侧缩短支撑相时间以减轻疼痛，健侧步幅增大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294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</a:rPr>
              <a:t>异常步态的识别需要结合病史、体格检查和仪器分析综合判断，不同步态可重叠出现。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"/>
            <a:ext cx="1097280" cy="41148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步态分析的临床应用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31520"/>
            <a:ext cx="105156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60120"/>
            <a:ext cx="2697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960120"/>
            <a:ext cx="2697480" cy="59436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神经康复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73736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011679"/>
            <a:ext cx="137160" cy="1371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脑卒中后步态训练评估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69748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2971800"/>
            <a:ext cx="137160" cy="1371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帕金森病步态分析与干预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65760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931920"/>
            <a:ext cx="137160" cy="1371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脊髓损伤步行功能评定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461772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892040"/>
            <a:ext cx="137160" cy="137160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脑瘫患儿步态矫正与追踪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960120"/>
            <a:ext cx="2697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46120" y="960120"/>
            <a:ext cx="2697480" cy="5943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骨科康复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173736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29000" y="2011679"/>
            <a:ext cx="137160" cy="1371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人工髋/膝关节置换术后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5848" y="269748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29000" y="2971800"/>
            <a:ext cx="137160" cy="1371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2880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截肢后假肢适配评估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365760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29000" y="3931920"/>
            <a:ext cx="137160" cy="1371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840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足踝外科手术前后对比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55848" y="461772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29000" y="4892040"/>
            <a:ext cx="137160" cy="1371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4800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脊柱侧弯步行功能分析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960120"/>
            <a:ext cx="2697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6480" y="960120"/>
            <a:ext cx="2697480" cy="594360"/>
          </a:xfrm>
          <a:prstGeom prst="round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运动医学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173736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09360" y="2011679"/>
            <a:ext cx="137160" cy="137160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运动员步态生物力学分析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269748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60" y="2971800"/>
            <a:ext cx="137160" cy="137160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880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跑步损伤风险评估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6208" y="365760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09360" y="3931920"/>
            <a:ext cx="137160" cy="137160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840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运动鞋/矫形鞋垫设计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36208" y="461772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09360" y="4892040"/>
            <a:ext cx="137160" cy="137160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800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运动技术动作优化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960120"/>
            <a:ext cx="2697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06840" y="960120"/>
            <a:ext cx="2697480" cy="594360"/>
          </a:xfrm>
          <a:prstGeom prst="roundRect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老年医学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16567" y="173736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189719" y="2011679"/>
            <a:ext cx="137160" cy="13716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19" y="19202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跌倒风险评估与预防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16567" y="269748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189719" y="2971800"/>
            <a:ext cx="137160" cy="13716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19" y="2880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肌少症步态特征识别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16567" y="365760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89719" y="3931920"/>
            <a:ext cx="137160" cy="13716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18319" y="3840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认知功能与步速关联研究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16567" y="461772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4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189719" y="4892040"/>
            <a:ext cx="137160" cy="137160"/>
          </a:xfrm>
          <a:prstGeom prst="ellipse">
            <a:avLst/>
          </a:prstGeom>
          <a:solidFill>
            <a:srgbClr val="F4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19" y="4800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社区老年人步行功能筛查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Microsoft YaHei"/>
              </a:rPr>
              <a:t>总结与展望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0515600" cy="18288"/>
          </a:xfrm>
          <a:prstGeom prst="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Microsoft YaHei"/>
              </a:rPr>
              <a:t>▎核心要点回顾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27048"/>
            <a:ext cx="109728" cy="109728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步态分析是康复医学中评估步行功能的重要手段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29968"/>
            <a:ext cx="109728" cy="109728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正常步态需要神经、肌肉、骨骼系统的协调配合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32888"/>
            <a:ext cx="109728" cy="109728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目测分析简便实用，仪器分析精确客观，两者相辅相成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35808"/>
            <a:ext cx="109728" cy="109728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异常步态是神经系统和骨骼肌肉系统疾病的重要体征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538728"/>
            <a:ext cx="109728" cy="109728"/>
          </a:xfrm>
          <a:prstGeom prst="ellipse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步态参数（步速、步频、步长等）可作为功能评估的核心指标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Microsoft YaHei"/>
              </a:rPr>
              <a:t>▎未来发展趋势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6304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1554480"/>
            <a:ext cx="1828800" cy="22860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AI + 步态分析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4708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深度学习自动识别异常步态模式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33172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2423160"/>
            <a:ext cx="1828800" cy="22860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可穿戴监测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1576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IMU传感器实现日常环境连续监测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0040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3291840"/>
            <a:ext cx="1828800" cy="22860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VR/AR 康复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8444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沉浸式步态训练与实时反馈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69079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60519"/>
            <a:ext cx="1828800" cy="22860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远程康复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53127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5G+步态分析实现远程评估指导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93776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92240" y="5029200"/>
            <a:ext cx="1828800" cy="228600"/>
          </a:xfrm>
          <a:prstGeom prst="roundRect">
            <a:avLst/>
          </a:prstGeom>
          <a:solidFill>
            <a:srgbClr val="27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精准医疗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2180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大数据驱动个性化康复方案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73152" cy="3108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91440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18872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46304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73736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2011680"/>
            <a:ext cx="73152" cy="7315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>
                <a:solidFill>
                  <a:srgbClr val="FFFFFF"/>
                </a:solidFill>
                <a:latin typeface="Microsoft YaHei"/>
              </a:rPr>
              <a:t>感谢聆听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320040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00B4D8"/>
                </a:solidFill>
                <a:latin typeface="Segoe UI"/>
              </a:rPr>
              <a:t>G A I T   A N A L Y S I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8BA3C7"/>
                </a:solidFill>
                <a:latin typeface="Microsoft YaHei"/>
              </a:rPr>
              <a:t>严谨评估  ·  科学康复  ·  精准治疗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07898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